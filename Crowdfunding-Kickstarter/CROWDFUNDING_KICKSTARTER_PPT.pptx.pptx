
<file path=[Content_Types].xml><?xml version="1.0" encoding="utf-8"?>
<Types xmlns="http://schemas.openxmlformats.org/package/2006/content-types">
  <Default Extension="emf" ContentType="image/x-emf"/>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7" r:id="rId4"/>
    <p:sldId id="259" r:id="rId5"/>
    <p:sldId id="260" r:id="rId6"/>
    <p:sldId id="262" r:id="rId7"/>
    <p:sldId id="261" r:id="rId8"/>
    <p:sldId id="267"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60" d="100"/>
          <a:sy n="60" d="100"/>
        </p:scale>
        <p:origin x="90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2/24/2026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2/24/2026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2/24/2026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2/24/2026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2/24/2026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2/24/2026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2/24/2026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2/24/2026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2/24/2026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2/24/2026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2/24/2026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2/24/2026</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jfif"/><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jfif"/><Relationship Id="rId4" Type="http://schemas.openxmlformats.org/officeDocument/2006/relationships/image" Target="../media/image9.jfif"/></Relationships>
</file>

<file path=ppt/slides/_rels/slide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jfif"/><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13.jfif"/></Relationships>
</file>

<file path=ppt/slides/_rels/slide8.xml.rels><?xml version="1.0" encoding="UTF-8" standalone="yes"?>
<Relationships xmlns="http://schemas.openxmlformats.org/package/2006/relationships"><Relationship Id="rId2" Type="http://schemas.openxmlformats.org/officeDocument/2006/relationships/image" Target="../media/image14.jfi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0">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17795-591F-26C5-774A-AAE64215C720}"/>
              </a:ext>
            </a:extLst>
          </p:cNvPr>
          <p:cNvSpPr>
            <a:spLocks noGrp="1"/>
          </p:cNvSpPr>
          <p:nvPr>
            <p:ph type="title"/>
          </p:nvPr>
        </p:nvSpPr>
        <p:spPr>
          <a:xfrm>
            <a:off x="2326995" y="2759676"/>
            <a:ext cx="7958331" cy="669324"/>
          </a:xfrm>
        </p:spPr>
        <p:txBody>
          <a:bodyPr>
            <a:noAutofit/>
          </a:bodyPr>
          <a:lstStyle/>
          <a:p>
            <a:pPr algn="ctr"/>
            <a:r>
              <a:rPr lang="en-IN" sz="4800" b="1" i="1" u="sng" dirty="0">
                <a:solidFill>
                  <a:schemeClr val="accent1">
                    <a:lumMod val="40000"/>
                    <a:lumOff val="60000"/>
                  </a:schemeClr>
                </a:solidFill>
              </a:rPr>
              <a:t>CROWDFUNDING KICKSTARTER</a:t>
            </a:r>
          </a:p>
        </p:txBody>
      </p:sp>
      <p:pic>
        <p:nvPicPr>
          <p:cNvPr id="4" name="Picture 3">
            <a:extLst>
              <a:ext uri="{FF2B5EF4-FFF2-40B4-BE49-F238E27FC236}">
                <a16:creationId xmlns:a16="http://schemas.microsoft.com/office/drawing/2014/main" id="{19FF78D8-B3B9-5579-0024-D8C83DC3EE79}"/>
              </a:ext>
            </a:extLst>
          </p:cNvPr>
          <p:cNvPicPr>
            <a:picLocks noChangeAspect="1"/>
          </p:cNvPicPr>
          <p:nvPr/>
        </p:nvPicPr>
        <p:blipFill>
          <a:blip r:embed="rId2"/>
          <a:stretch>
            <a:fillRect/>
          </a:stretch>
        </p:blipFill>
        <p:spPr>
          <a:xfrm>
            <a:off x="1589260" y="2313516"/>
            <a:ext cx="2098318" cy="2098318"/>
          </a:xfrm>
          <a:prstGeom prst="rect">
            <a:avLst/>
          </a:prstGeom>
        </p:spPr>
      </p:pic>
    </p:spTree>
    <p:extLst>
      <p:ext uri="{BB962C8B-B14F-4D97-AF65-F5344CB8AC3E}">
        <p14:creationId xmlns:p14="http://schemas.microsoft.com/office/powerpoint/2010/main" val="1010774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4BBB02E-F7A9-D514-D979-05D2D7C89FD8}"/>
              </a:ext>
            </a:extLst>
          </p:cNvPr>
          <p:cNvSpPr txBox="1"/>
          <p:nvPr/>
        </p:nvSpPr>
        <p:spPr>
          <a:xfrm>
            <a:off x="1296649" y="1191718"/>
            <a:ext cx="7849224" cy="4524315"/>
          </a:xfrm>
          <a:prstGeom prst="rect">
            <a:avLst/>
          </a:prstGeom>
          <a:noFill/>
        </p:spPr>
        <p:txBody>
          <a:bodyPr wrap="square">
            <a:spAutoFit/>
          </a:bodyPr>
          <a:lstStyle/>
          <a:p>
            <a:r>
              <a:rPr lang="en-US" b="1" dirty="0">
                <a:solidFill>
                  <a:schemeClr val="tx2">
                    <a:lumMod val="50000"/>
                  </a:schemeClr>
                </a:solidFill>
              </a:rPr>
              <a:t>Table of Contents</a:t>
            </a:r>
            <a:br>
              <a:rPr lang="en-US" b="1" dirty="0">
                <a:solidFill>
                  <a:schemeClr val="tx2">
                    <a:lumMod val="50000"/>
                  </a:schemeClr>
                </a:solidFill>
              </a:rPr>
            </a:br>
            <a:br>
              <a:rPr lang="en-US" b="1" dirty="0">
                <a:solidFill>
                  <a:schemeClr val="tx2">
                    <a:lumMod val="50000"/>
                  </a:schemeClr>
                </a:solidFill>
              </a:rPr>
            </a:br>
            <a:endParaRPr lang="en-US" b="1" dirty="0">
              <a:solidFill>
                <a:schemeClr val="tx2">
                  <a:lumMod val="50000"/>
                </a:schemeClr>
              </a:solidFill>
            </a:endParaRPr>
          </a:p>
          <a:p>
            <a:r>
              <a:rPr lang="en-US" b="1" dirty="0">
                <a:solidFill>
                  <a:schemeClr val="tx2">
                    <a:lumMod val="50000"/>
                  </a:schemeClr>
                </a:solidFill>
              </a:rPr>
              <a:t> I  INTRODUCTION                                                            3</a:t>
            </a:r>
            <a:br>
              <a:rPr lang="en-US" b="1" dirty="0">
                <a:solidFill>
                  <a:schemeClr val="tx2">
                    <a:lumMod val="50000"/>
                  </a:schemeClr>
                </a:solidFill>
              </a:rPr>
            </a:br>
            <a:br>
              <a:rPr lang="en-US" b="1" dirty="0">
                <a:solidFill>
                  <a:schemeClr val="tx2">
                    <a:lumMod val="50000"/>
                  </a:schemeClr>
                </a:solidFill>
              </a:rPr>
            </a:br>
            <a:r>
              <a:rPr lang="en-US" b="1" dirty="0">
                <a:solidFill>
                  <a:schemeClr val="tx2">
                    <a:lumMod val="50000"/>
                  </a:schemeClr>
                </a:solidFill>
              </a:rPr>
              <a:t>        </a:t>
            </a:r>
          </a:p>
          <a:p>
            <a:r>
              <a:rPr lang="en-US" b="1" dirty="0">
                <a:solidFill>
                  <a:schemeClr val="tx2">
                    <a:lumMod val="50000"/>
                  </a:schemeClr>
                </a:solidFill>
              </a:rPr>
              <a:t> II  DATA OVERVIEW                                                    4</a:t>
            </a:r>
            <a:br>
              <a:rPr lang="en-US" b="1" dirty="0">
                <a:solidFill>
                  <a:schemeClr val="tx2">
                    <a:lumMod val="50000"/>
                  </a:schemeClr>
                </a:solidFill>
              </a:rPr>
            </a:br>
            <a:br>
              <a:rPr lang="en-US" b="1" dirty="0">
                <a:solidFill>
                  <a:schemeClr val="tx2">
                    <a:lumMod val="50000"/>
                  </a:schemeClr>
                </a:solidFill>
              </a:rPr>
            </a:br>
            <a:r>
              <a:rPr lang="en-US" b="1" dirty="0">
                <a:solidFill>
                  <a:schemeClr val="tx2">
                    <a:lumMod val="50000"/>
                  </a:schemeClr>
                </a:solidFill>
              </a:rPr>
              <a:t>    </a:t>
            </a:r>
          </a:p>
          <a:p>
            <a:r>
              <a:rPr lang="en-US" b="1" dirty="0">
                <a:solidFill>
                  <a:schemeClr val="tx2">
                    <a:lumMod val="50000"/>
                  </a:schemeClr>
                </a:solidFill>
              </a:rPr>
              <a:t> III      KEY  INSIGHTS                                                             5  </a:t>
            </a:r>
            <a:br>
              <a:rPr lang="en-US" b="1" dirty="0">
                <a:solidFill>
                  <a:schemeClr val="tx2">
                    <a:lumMod val="50000"/>
                  </a:schemeClr>
                </a:solidFill>
              </a:rPr>
            </a:br>
            <a:br>
              <a:rPr lang="en-US" b="1" dirty="0">
                <a:solidFill>
                  <a:schemeClr val="tx2">
                    <a:lumMod val="50000"/>
                  </a:schemeClr>
                </a:solidFill>
              </a:rPr>
            </a:br>
            <a:r>
              <a:rPr lang="en-US" b="1" dirty="0">
                <a:solidFill>
                  <a:schemeClr val="tx2">
                    <a:lumMod val="50000"/>
                  </a:schemeClr>
                </a:solidFill>
              </a:rPr>
              <a:t>    </a:t>
            </a:r>
          </a:p>
          <a:p>
            <a:r>
              <a:rPr lang="en-US" b="1" dirty="0">
                <a:solidFill>
                  <a:schemeClr val="tx2">
                    <a:lumMod val="50000"/>
                  </a:schemeClr>
                </a:solidFill>
              </a:rPr>
              <a:t> IV      DASHBOARD                                                             8  </a:t>
            </a:r>
            <a:br>
              <a:rPr lang="en-US" b="1" dirty="0">
                <a:solidFill>
                  <a:schemeClr val="tx2">
                    <a:lumMod val="50000"/>
                  </a:schemeClr>
                </a:solidFill>
              </a:rPr>
            </a:br>
            <a:br>
              <a:rPr lang="en-US" b="1" dirty="0">
                <a:solidFill>
                  <a:schemeClr val="tx2">
                    <a:lumMod val="50000"/>
                  </a:schemeClr>
                </a:solidFill>
              </a:rPr>
            </a:br>
            <a:r>
              <a:rPr lang="en-US" b="1" dirty="0">
                <a:solidFill>
                  <a:schemeClr val="tx2">
                    <a:lumMod val="50000"/>
                  </a:schemeClr>
                </a:solidFill>
              </a:rPr>
              <a:t>     </a:t>
            </a:r>
          </a:p>
          <a:p>
            <a:r>
              <a:rPr lang="en-US" b="1" dirty="0">
                <a:solidFill>
                  <a:schemeClr val="tx2">
                    <a:lumMod val="50000"/>
                  </a:schemeClr>
                </a:solidFill>
              </a:rPr>
              <a:t> V  RECOMMENDATION AND INSIGHT CONCLUSION          9  </a:t>
            </a:r>
          </a:p>
        </p:txBody>
      </p:sp>
    </p:spTree>
    <p:extLst>
      <p:ext uri="{BB962C8B-B14F-4D97-AF65-F5344CB8AC3E}">
        <p14:creationId xmlns:p14="http://schemas.microsoft.com/office/powerpoint/2010/main" val="22277466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B075AE6-03CE-BF19-252B-CB73CC6A6C59}"/>
              </a:ext>
            </a:extLst>
          </p:cNvPr>
          <p:cNvSpPr txBox="1"/>
          <p:nvPr/>
        </p:nvSpPr>
        <p:spPr>
          <a:xfrm>
            <a:off x="1064299" y="58846"/>
            <a:ext cx="10320728" cy="6463308"/>
          </a:xfrm>
          <a:prstGeom prst="rect">
            <a:avLst/>
          </a:prstGeom>
          <a:noFill/>
        </p:spPr>
        <p:txBody>
          <a:bodyPr wrap="square" rtlCol="0">
            <a:spAutoFit/>
          </a:bodyPr>
          <a:lstStyle/>
          <a:p>
            <a:br>
              <a:rPr lang="en-IN" b="1" dirty="0">
                <a:solidFill>
                  <a:schemeClr val="tx2">
                    <a:lumMod val="50000"/>
                  </a:schemeClr>
                </a:solidFill>
              </a:rPr>
            </a:br>
            <a:br>
              <a:rPr lang="en-IN" b="1" dirty="0">
                <a:solidFill>
                  <a:schemeClr val="tx2">
                    <a:lumMod val="50000"/>
                  </a:schemeClr>
                </a:solidFill>
              </a:rPr>
            </a:br>
            <a:br>
              <a:rPr lang="en-IN" b="1" dirty="0">
                <a:solidFill>
                  <a:schemeClr val="tx2">
                    <a:lumMod val="50000"/>
                  </a:schemeClr>
                </a:solidFill>
              </a:rPr>
            </a:br>
            <a:r>
              <a:rPr lang="en-IN" b="1" dirty="0">
                <a:solidFill>
                  <a:schemeClr val="tx2">
                    <a:lumMod val="50000"/>
                  </a:schemeClr>
                </a:solidFill>
              </a:rPr>
              <a:t>1.WHAT IS CROWDFUNDING? </a:t>
            </a:r>
            <a:br>
              <a:rPr lang="en-IN" dirty="0"/>
            </a:br>
            <a:br>
              <a:rPr lang="en-IN" dirty="0"/>
            </a:br>
            <a:r>
              <a:rPr lang="en-US" dirty="0"/>
              <a:t> </a:t>
            </a:r>
            <a:r>
              <a:rPr lang="en-US" b="1" dirty="0"/>
              <a:t>Crowdfunding is the practice of funding a project or venture by raising small amounts of money from a large number of people, typically via the Internet. </a:t>
            </a:r>
            <a:br>
              <a:rPr lang="en-US" b="1" dirty="0"/>
            </a:br>
            <a:r>
              <a:rPr lang="en-US" b="1" dirty="0"/>
              <a:t> Crowdfunding is a form of crowdsourcing and alternative finance. In 2015, over US$34 billion was raised worldwide by crowdfunding</a:t>
            </a:r>
            <a:br>
              <a:rPr lang="en-US" dirty="0"/>
            </a:br>
            <a:br>
              <a:rPr lang="en-US" dirty="0"/>
            </a:br>
            <a:r>
              <a:rPr lang="en-US" b="1" dirty="0">
                <a:solidFill>
                  <a:schemeClr val="tx2">
                    <a:lumMod val="50000"/>
                  </a:schemeClr>
                </a:solidFill>
              </a:rPr>
              <a:t>2.</a:t>
            </a:r>
            <a:r>
              <a:rPr lang="en-IN" b="1" dirty="0">
                <a:solidFill>
                  <a:schemeClr val="tx2">
                    <a:lumMod val="50000"/>
                  </a:schemeClr>
                </a:solidFill>
              </a:rPr>
              <a:t>WHAT IS KICKSTARTER ? </a:t>
            </a:r>
            <a:br>
              <a:rPr lang="en-IN" dirty="0"/>
            </a:br>
            <a:br>
              <a:rPr lang="en-IN" dirty="0"/>
            </a:br>
            <a:r>
              <a:rPr lang="en-US" dirty="0"/>
              <a:t> </a:t>
            </a:r>
            <a:r>
              <a:rPr lang="en-US" b="1" dirty="0"/>
              <a:t>Thousands of creative projects are funding on Kickstarter at any given moment. Each project is independently created and crafted by the person behind it. </a:t>
            </a:r>
            <a:br>
              <a:rPr lang="en-US" b="1" dirty="0"/>
            </a:br>
            <a:r>
              <a:rPr lang="en-US" b="1" dirty="0"/>
              <a:t> The filmmakers, musicians, artists, and designers you see on Kickstarter have complete control and responsibility over their projects. </a:t>
            </a:r>
            <a:br>
              <a:rPr lang="en-US" b="1" dirty="0"/>
            </a:br>
            <a:r>
              <a:rPr lang="en-US" b="1" dirty="0"/>
              <a:t> They spend weeks building their project pages, shooting their videos, and brainstorming what rewards to offer backers. When they're ready, creators launch their project and share it with their community. </a:t>
            </a:r>
            <a:br>
              <a:rPr lang="en-US" b="1" dirty="0"/>
            </a:br>
            <a:r>
              <a:rPr lang="en-US" b="1" dirty="0"/>
              <a:t> If the project succeeds in reaching its funding goal, all backers' credit cards are charged when time expires. If the project falls short, no one is charged. Funding on Kickstarter is all-or-nothing.</a:t>
            </a:r>
            <a:br>
              <a:rPr lang="en-US" b="1" dirty="0"/>
            </a:br>
            <a:endParaRPr lang="en-IN" b="1" dirty="0"/>
          </a:p>
        </p:txBody>
      </p:sp>
      <p:sp>
        <p:nvSpPr>
          <p:cNvPr id="9" name="Rectangle: Rounded Corners 8">
            <a:extLst>
              <a:ext uri="{FF2B5EF4-FFF2-40B4-BE49-F238E27FC236}">
                <a16:creationId xmlns:a16="http://schemas.microsoft.com/office/drawing/2014/main" id="{8FDFBECF-6A2C-D25A-DF4F-E47A7188DDB0}"/>
              </a:ext>
            </a:extLst>
          </p:cNvPr>
          <p:cNvSpPr/>
          <p:nvPr/>
        </p:nvSpPr>
        <p:spPr>
          <a:xfrm>
            <a:off x="3581400" y="90560"/>
            <a:ext cx="4444583" cy="8019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C37633C0-79F6-95B3-073E-200CEFEBCF64}"/>
              </a:ext>
            </a:extLst>
          </p:cNvPr>
          <p:cNvSpPr txBox="1"/>
          <p:nvPr/>
        </p:nvSpPr>
        <p:spPr>
          <a:xfrm>
            <a:off x="3791262" y="137604"/>
            <a:ext cx="4444583" cy="707886"/>
          </a:xfrm>
          <a:prstGeom prst="rect">
            <a:avLst/>
          </a:prstGeom>
          <a:noFill/>
        </p:spPr>
        <p:txBody>
          <a:bodyPr wrap="square" rtlCol="0">
            <a:spAutoFit/>
          </a:bodyPr>
          <a:lstStyle/>
          <a:p>
            <a:r>
              <a:rPr lang="en-US" sz="4000" b="1" i="1" dirty="0">
                <a:solidFill>
                  <a:schemeClr val="bg1">
                    <a:lumMod val="85000"/>
                    <a:lumOff val="15000"/>
                  </a:schemeClr>
                </a:solidFill>
              </a:rPr>
              <a:t>INTRODUCTION</a:t>
            </a:r>
            <a:endParaRPr lang="en-IN" sz="4000" b="1" i="1" dirty="0">
              <a:solidFill>
                <a:schemeClr val="bg1">
                  <a:lumMod val="85000"/>
                  <a:lumOff val="15000"/>
                </a:schemeClr>
              </a:solidFill>
            </a:endParaRPr>
          </a:p>
        </p:txBody>
      </p:sp>
      <p:pic>
        <p:nvPicPr>
          <p:cNvPr id="1026" name="Picture 2">
            <a:extLst>
              <a:ext uri="{FF2B5EF4-FFF2-40B4-BE49-F238E27FC236}">
                <a16:creationId xmlns:a16="http://schemas.microsoft.com/office/drawing/2014/main" id="{C92F050E-13BD-719D-DFEB-5AECCEA52C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39389" y="58846"/>
            <a:ext cx="1140707" cy="11407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2745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45EF235-4AD8-428E-01B2-367DD2A43A67}"/>
              </a:ext>
            </a:extLst>
          </p:cNvPr>
          <p:cNvSpPr/>
          <p:nvPr/>
        </p:nvSpPr>
        <p:spPr>
          <a:xfrm>
            <a:off x="3581400" y="90560"/>
            <a:ext cx="4444583" cy="8019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i="1" dirty="0">
                <a:solidFill>
                  <a:schemeClr val="bg1">
                    <a:lumMod val="85000"/>
                    <a:lumOff val="15000"/>
                  </a:schemeClr>
                </a:solidFill>
              </a:rPr>
              <a:t>DATA OVERVIEW</a:t>
            </a:r>
            <a:endParaRPr lang="en-IN" sz="3600" b="1" i="1" dirty="0">
              <a:solidFill>
                <a:schemeClr val="bg1">
                  <a:lumMod val="85000"/>
                  <a:lumOff val="15000"/>
                </a:schemeClr>
              </a:solidFill>
            </a:endParaRPr>
          </a:p>
        </p:txBody>
      </p:sp>
      <p:sp>
        <p:nvSpPr>
          <p:cNvPr id="4" name="TextBox 3">
            <a:extLst>
              <a:ext uri="{FF2B5EF4-FFF2-40B4-BE49-F238E27FC236}">
                <a16:creationId xmlns:a16="http://schemas.microsoft.com/office/drawing/2014/main" id="{E5058980-4C0B-61A6-A51F-15461F43805D}"/>
              </a:ext>
            </a:extLst>
          </p:cNvPr>
          <p:cNvSpPr txBox="1"/>
          <p:nvPr/>
        </p:nvSpPr>
        <p:spPr>
          <a:xfrm>
            <a:off x="1266669" y="966866"/>
            <a:ext cx="7879204" cy="5632311"/>
          </a:xfrm>
          <a:prstGeom prst="rect">
            <a:avLst/>
          </a:prstGeom>
          <a:noFill/>
        </p:spPr>
        <p:txBody>
          <a:bodyPr wrap="square">
            <a:spAutoFit/>
          </a:bodyPr>
          <a:lstStyle/>
          <a:p>
            <a:r>
              <a:rPr lang="en-US" sz="2000" b="1" dirty="0">
                <a:solidFill>
                  <a:schemeClr val="tx2">
                    <a:lumMod val="50000"/>
                  </a:schemeClr>
                </a:solidFill>
              </a:rPr>
              <a:t>Crowdfunding project dataset</a:t>
            </a:r>
          </a:p>
          <a:p>
            <a:r>
              <a:rPr lang="en-US" sz="2000" dirty="0"/>
              <a:t>→ This dataset contains information about projects launched on a crowdfunding platform.</a:t>
            </a:r>
          </a:p>
          <a:p>
            <a:r>
              <a:rPr lang="en-US" sz="2000" b="1" dirty="0">
                <a:solidFill>
                  <a:schemeClr val="tx2">
                    <a:lumMod val="50000"/>
                  </a:schemeClr>
                </a:solidFill>
              </a:rPr>
              <a:t>Each row represents one project</a:t>
            </a:r>
          </a:p>
          <a:p>
            <a:r>
              <a:rPr lang="en-US" sz="2000" dirty="0"/>
              <a:t>→ Every record in the dataset corresponds to a single crowdfunding project.</a:t>
            </a:r>
          </a:p>
          <a:p>
            <a:r>
              <a:rPr lang="en-US" sz="2000" b="1" dirty="0">
                <a:solidFill>
                  <a:schemeClr val="tx2">
                    <a:lumMod val="50000"/>
                  </a:schemeClr>
                </a:solidFill>
              </a:rPr>
              <a:t>Project details included</a:t>
            </a:r>
          </a:p>
          <a:p>
            <a:r>
              <a:rPr lang="en-US" sz="2000" dirty="0"/>
              <a:t>→ The data includes project goals, amount raised, number of backers, and project outcome.</a:t>
            </a:r>
          </a:p>
          <a:p>
            <a:r>
              <a:rPr lang="en-US" sz="2000" b="1" dirty="0">
                <a:solidFill>
                  <a:schemeClr val="tx2">
                    <a:lumMod val="50000"/>
                  </a:schemeClr>
                </a:solidFill>
              </a:rPr>
              <a:t>Outcome information available</a:t>
            </a:r>
          </a:p>
          <a:p>
            <a:r>
              <a:rPr lang="en-US" sz="2000" dirty="0"/>
              <a:t>→ Projects are marked as successful or failed based on funding results.</a:t>
            </a:r>
          </a:p>
          <a:p>
            <a:r>
              <a:rPr lang="en-US" sz="2000" b="1" dirty="0">
                <a:solidFill>
                  <a:schemeClr val="tx2">
                    <a:lumMod val="50000"/>
                  </a:schemeClr>
                </a:solidFill>
              </a:rPr>
              <a:t>Date information included</a:t>
            </a:r>
          </a:p>
          <a:p>
            <a:r>
              <a:rPr lang="en-US" sz="2000" dirty="0"/>
              <a:t>→ The dataset contains project creation dates used for time-based analysis.</a:t>
            </a:r>
          </a:p>
          <a:p>
            <a:r>
              <a:rPr lang="en-US" sz="2000" b="1" dirty="0">
                <a:solidFill>
                  <a:schemeClr val="tx2">
                    <a:lumMod val="50000"/>
                  </a:schemeClr>
                </a:solidFill>
              </a:rPr>
              <a:t>Data cleaned before analysis</a:t>
            </a:r>
          </a:p>
          <a:p>
            <a:r>
              <a:rPr lang="en-US" sz="2000" dirty="0"/>
              <a:t>→ Missing values and errors were removed to ensure accurate analysis.</a:t>
            </a:r>
            <a:endParaRPr lang="en-IN" sz="2000" dirty="0"/>
          </a:p>
        </p:txBody>
      </p:sp>
      <p:pic>
        <p:nvPicPr>
          <p:cNvPr id="1030" name="Picture 6" descr="Data file - Free ui icons">
            <a:extLst>
              <a:ext uri="{FF2B5EF4-FFF2-40B4-BE49-F238E27FC236}">
                <a16:creationId xmlns:a16="http://schemas.microsoft.com/office/drawing/2014/main" id="{38EAEAD9-38A1-ADA9-B23B-4C8AE584FF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9471285" y="90560"/>
            <a:ext cx="1673902" cy="1673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45500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95BA77B-5E23-480F-54D5-789E23BD5CDB}"/>
              </a:ext>
            </a:extLst>
          </p:cNvPr>
          <p:cNvSpPr/>
          <p:nvPr/>
        </p:nvSpPr>
        <p:spPr>
          <a:xfrm>
            <a:off x="3581400" y="90560"/>
            <a:ext cx="4444583" cy="8019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i="1" dirty="0">
                <a:solidFill>
                  <a:schemeClr val="bg1">
                    <a:lumMod val="85000"/>
                    <a:lumOff val="15000"/>
                  </a:schemeClr>
                </a:solidFill>
              </a:rPr>
              <a:t>KEY INSIGHTS</a:t>
            </a:r>
          </a:p>
        </p:txBody>
      </p:sp>
      <p:sp>
        <p:nvSpPr>
          <p:cNvPr id="5" name="TextBox 4">
            <a:extLst>
              <a:ext uri="{FF2B5EF4-FFF2-40B4-BE49-F238E27FC236}">
                <a16:creationId xmlns:a16="http://schemas.microsoft.com/office/drawing/2014/main" id="{2E01D4F6-46FA-4839-CD0C-15F77059A682}"/>
              </a:ext>
            </a:extLst>
          </p:cNvPr>
          <p:cNvSpPr txBox="1"/>
          <p:nvPr/>
        </p:nvSpPr>
        <p:spPr>
          <a:xfrm>
            <a:off x="1161738" y="1236689"/>
            <a:ext cx="10095875" cy="2246769"/>
          </a:xfrm>
          <a:prstGeom prst="rect">
            <a:avLst/>
          </a:prstGeom>
          <a:noFill/>
        </p:spPr>
        <p:txBody>
          <a:bodyPr wrap="square" rtlCol="0">
            <a:spAutoFit/>
          </a:bodyPr>
          <a:lstStyle/>
          <a:p>
            <a:r>
              <a:rPr lang="en-US" sz="2000" b="1" dirty="0">
                <a:solidFill>
                  <a:schemeClr val="tx2">
                    <a:lumMod val="50000"/>
                  </a:schemeClr>
                </a:solidFill>
              </a:rPr>
              <a:t>Overall Performance</a:t>
            </a:r>
            <a:br>
              <a:rPr lang="en-US" sz="2000" b="1" dirty="0">
                <a:solidFill>
                  <a:schemeClr val="tx2">
                    <a:lumMod val="50000"/>
                  </a:schemeClr>
                </a:solidFill>
              </a:rPr>
            </a:br>
            <a:endParaRPr lang="en-US" sz="2000" b="1" dirty="0">
              <a:solidFill>
                <a:schemeClr val="tx2">
                  <a:lumMod val="50000"/>
                </a:schemeClr>
              </a:solidFill>
            </a:endParaRPr>
          </a:p>
          <a:p>
            <a:pPr marL="342900" indent="-342900">
              <a:buFont typeface="Wingdings" panose="05000000000000000000" pitchFamily="2" charset="2"/>
              <a:buChar char="q"/>
            </a:pPr>
            <a:r>
              <a:rPr lang="en-US" sz="2000" dirty="0"/>
              <a:t>A large number of projects are created on the crowdfunding platform every year</a:t>
            </a:r>
          </a:p>
          <a:p>
            <a:pPr marL="342900" indent="-342900">
              <a:buFont typeface="Wingdings" panose="05000000000000000000" pitchFamily="2" charset="2"/>
              <a:buChar char="q"/>
            </a:pPr>
            <a:r>
              <a:rPr lang="en-US" sz="2000" dirty="0"/>
              <a:t>Only a portion of total projects achieve successful funding.</a:t>
            </a:r>
            <a:br>
              <a:rPr lang="en-US" sz="2000" dirty="0"/>
            </a:br>
            <a:endParaRPr lang="en-US" sz="2000" dirty="0"/>
          </a:p>
          <a:p>
            <a:pPr marL="342900" indent="-342900">
              <a:buFont typeface="Wingdings" panose="05000000000000000000" pitchFamily="2" charset="2"/>
              <a:buChar char="q"/>
            </a:pPr>
            <a:r>
              <a:rPr lang="en-US" sz="2000" dirty="0"/>
              <a:t>This shows that crowdfunding is competitive and success is not guaranteed</a:t>
            </a:r>
          </a:p>
          <a:p>
            <a:pPr marL="342900" indent="-342900">
              <a:buFont typeface="Wingdings" panose="05000000000000000000" pitchFamily="2" charset="2"/>
              <a:buChar char="q"/>
            </a:pPr>
            <a:r>
              <a:rPr lang="en-US" sz="2000" dirty="0"/>
              <a:t>Proper planning and realistic expectations are important for success.</a:t>
            </a:r>
            <a:endParaRPr lang="en-IN" dirty="0"/>
          </a:p>
        </p:txBody>
      </p:sp>
      <p:pic>
        <p:nvPicPr>
          <p:cNvPr id="3078" name="Picture 6" descr="Insight - Free communications icons">
            <a:extLst>
              <a:ext uri="{FF2B5EF4-FFF2-40B4-BE49-F238E27FC236}">
                <a16:creationId xmlns:a16="http://schemas.microsoft.com/office/drawing/2014/main" id="{860BA1BC-D3D5-6EC7-6A33-ACBBE81997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03764" y="113045"/>
            <a:ext cx="1671403" cy="193311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BC66B716-42FB-4F8F-F0DC-A4C7E3915C0A}"/>
              </a:ext>
            </a:extLst>
          </p:cNvPr>
          <p:cNvPicPr>
            <a:picLocks noChangeAspect="1"/>
          </p:cNvPicPr>
          <p:nvPr/>
        </p:nvPicPr>
        <p:blipFill>
          <a:blip r:embed="rId3"/>
          <a:stretch>
            <a:fillRect/>
          </a:stretch>
        </p:blipFill>
        <p:spPr>
          <a:xfrm>
            <a:off x="1929153" y="3849650"/>
            <a:ext cx="2281605" cy="1152686"/>
          </a:xfrm>
          <a:prstGeom prst="rect">
            <a:avLst/>
          </a:prstGeom>
        </p:spPr>
      </p:pic>
      <p:pic>
        <p:nvPicPr>
          <p:cNvPr id="15" name="Picture 14">
            <a:extLst>
              <a:ext uri="{FF2B5EF4-FFF2-40B4-BE49-F238E27FC236}">
                <a16:creationId xmlns:a16="http://schemas.microsoft.com/office/drawing/2014/main" id="{77B70E0B-B1C1-7C5A-3BF5-A8F1CDED1CAE}"/>
              </a:ext>
            </a:extLst>
          </p:cNvPr>
          <p:cNvPicPr>
            <a:picLocks noChangeAspect="1"/>
          </p:cNvPicPr>
          <p:nvPr/>
        </p:nvPicPr>
        <p:blipFill>
          <a:blip r:embed="rId4"/>
          <a:stretch>
            <a:fillRect/>
          </a:stretch>
        </p:blipFill>
        <p:spPr>
          <a:xfrm>
            <a:off x="4662089" y="3849650"/>
            <a:ext cx="2122677" cy="1071643"/>
          </a:xfrm>
          <a:prstGeom prst="rect">
            <a:avLst/>
          </a:prstGeom>
        </p:spPr>
      </p:pic>
      <p:pic>
        <p:nvPicPr>
          <p:cNvPr id="17" name="Picture 16">
            <a:extLst>
              <a:ext uri="{FF2B5EF4-FFF2-40B4-BE49-F238E27FC236}">
                <a16:creationId xmlns:a16="http://schemas.microsoft.com/office/drawing/2014/main" id="{A45A5202-F96F-DCC0-8E28-0C4ECD3297B6}"/>
              </a:ext>
            </a:extLst>
          </p:cNvPr>
          <p:cNvPicPr>
            <a:picLocks noChangeAspect="1"/>
          </p:cNvPicPr>
          <p:nvPr/>
        </p:nvPicPr>
        <p:blipFill>
          <a:blip r:embed="rId5"/>
          <a:stretch>
            <a:fillRect/>
          </a:stretch>
        </p:blipFill>
        <p:spPr>
          <a:xfrm>
            <a:off x="7236097" y="3849650"/>
            <a:ext cx="2131763" cy="1071643"/>
          </a:xfrm>
          <a:prstGeom prst="rect">
            <a:avLst/>
          </a:prstGeom>
        </p:spPr>
      </p:pic>
    </p:spTree>
    <p:extLst>
      <p:ext uri="{BB962C8B-B14F-4D97-AF65-F5344CB8AC3E}">
        <p14:creationId xmlns:p14="http://schemas.microsoft.com/office/powerpoint/2010/main" val="2851480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E817C75-8451-3868-8352-C4F4589492FC}"/>
              </a:ext>
            </a:extLst>
          </p:cNvPr>
          <p:cNvSpPr/>
          <p:nvPr/>
        </p:nvSpPr>
        <p:spPr>
          <a:xfrm>
            <a:off x="3581400" y="90560"/>
            <a:ext cx="4444583" cy="8019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i="1" dirty="0">
                <a:solidFill>
                  <a:schemeClr val="bg1">
                    <a:lumMod val="85000"/>
                    <a:lumOff val="15000"/>
                  </a:schemeClr>
                </a:solidFill>
              </a:rPr>
              <a:t>KEY INSIGHTS</a:t>
            </a:r>
          </a:p>
        </p:txBody>
      </p:sp>
      <p:sp>
        <p:nvSpPr>
          <p:cNvPr id="5" name="TextBox 4">
            <a:extLst>
              <a:ext uri="{FF2B5EF4-FFF2-40B4-BE49-F238E27FC236}">
                <a16:creationId xmlns:a16="http://schemas.microsoft.com/office/drawing/2014/main" id="{914221CE-DBE0-505C-7028-E8B8891BF655}"/>
              </a:ext>
            </a:extLst>
          </p:cNvPr>
          <p:cNvSpPr txBox="1"/>
          <p:nvPr/>
        </p:nvSpPr>
        <p:spPr>
          <a:xfrm>
            <a:off x="1176728" y="1176728"/>
            <a:ext cx="8349521" cy="2616101"/>
          </a:xfrm>
          <a:prstGeom prst="rect">
            <a:avLst/>
          </a:prstGeom>
          <a:noFill/>
        </p:spPr>
        <p:txBody>
          <a:bodyPr wrap="square" rtlCol="0">
            <a:spAutoFit/>
          </a:bodyPr>
          <a:lstStyle/>
          <a:p>
            <a:pPr marL="342900" indent="-342900">
              <a:buFont typeface="Wingdings" panose="05000000000000000000" pitchFamily="2" charset="2"/>
              <a:buChar char="q"/>
            </a:pPr>
            <a:r>
              <a:rPr lang="en-US" sz="2000" b="1" dirty="0">
                <a:solidFill>
                  <a:schemeClr val="tx2">
                    <a:lumMod val="50000"/>
                  </a:schemeClr>
                </a:solidFill>
              </a:rPr>
              <a:t>Funding and Backer Behavior</a:t>
            </a:r>
            <a:br>
              <a:rPr lang="en-US" sz="2000" b="1" dirty="0">
                <a:solidFill>
                  <a:schemeClr val="tx2">
                    <a:lumMod val="50000"/>
                  </a:schemeClr>
                </a:solidFill>
              </a:rPr>
            </a:br>
            <a:r>
              <a:rPr lang="en-US" dirty="0"/>
              <a:t>Successful projects raise significantly higher amounts compared to failed projects.</a:t>
            </a:r>
            <a:br>
              <a:rPr lang="en-US" dirty="0"/>
            </a:br>
            <a:endParaRPr lang="en-US" dirty="0"/>
          </a:p>
          <a:p>
            <a:pPr marL="342900" indent="-342900">
              <a:buFont typeface="Wingdings" panose="05000000000000000000" pitchFamily="2" charset="2"/>
              <a:buChar char="q"/>
            </a:pPr>
            <a:r>
              <a:rPr lang="en-US" dirty="0"/>
              <a:t>Projects with higher number of backers have better chances of success.</a:t>
            </a:r>
            <a:br>
              <a:rPr lang="en-US" dirty="0"/>
            </a:br>
            <a:endParaRPr lang="en-US" dirty="0"/>
          </a:p>
          <a:p>
            <a:pPr marL="342900" indent="-342900">
              <a:buFont typeface="Wingdings" panose="05000000000000000000" pitchFamily="2" charset="2"/>
              <a:buChar char="q"/>
            </a:pPr>
            <a:r>
              <a:rPr lang="en-US" dirty="0"/>
              <a:t>A small number of top projects contribute a large share of total funding.</a:t>
            </a:r>
            <a:br>
              <a:rPr lang="en-US" dirty="0"/>
            </a:br>
            <a:endParaRPr lang="en-US" dirty="0"/>
          </a:p>
          <a:p>
            <a:pPr marL="342900" indent="-342900">
              <a:buFont typeface="Wingdings" panose="05000000000000000000" pitchFamily="2" charset="2"/>
              <a:buChar char="q"/>
            </a:pPr>
            <a:r>
              <a:rPr lang="en-US" dirty="0"/>
              <a:t>Backer engagement plays a key role in project performance.</a:t>
            </a:r>
            <a:endParaRPr lang="en-IN" dirty="0"/>
          </a:p>
        </p:txBody>
      </p:sp>
      <p:pic>
        <p:nvPicPr>
          <p:cNvPr id="6" name="Picture 6" descr="Insight - Free communications icons">
            <a:extLst>
              <a:ext uri="{FF2B5EF4-FFF2-40B4-BE49-F238E27FC236}">
                <a16:creationId xmlns:a16="http://schemas.microsoft.com/office/drawing/2014/main" id="{E3F40FF5-32F5-1C56-46F6-63AD6A31DA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03764" y="113045"/>
            <a:ext cx="1671403" cy="193311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12F630D3-44EF-110E-687E-9FD9BF27AE1F}"/>
              </a:ext>
            </a:extLst>
          </p:cNvPr>
          <p:cNvPicPr>
            <a:picLocks noChangeAspect="1"/>
          </p:cNvPicPr>
          <p:nvPr/>
        </p:nvPicPr>
        <p:blipFill>
          <a:blip r:embed="rId3"/>
          <a:stretch>
            <a:fillRect/>
          </a:stretch>
        </p:blipFill>
        <p:spPr>
          <a:xfrm>
            <a:off x="4036083" y="3792829"/>
            <a:ext cx="3805890" cy="3021414"/>
          </a:xfrm>
          <a:prstGeom prst="rect">
            <a:avLst/>
          </a:prstGeom>
        </p:spPr>
      </p:pic>
    </p:spTree>
    <p:extLst>
      <p:ext uri="{BB962C8B-B14F-4D97-AF65-F5344CB8AC3E}">
        <p14:creationId xmlns:p14="http://schemas.microsoft.com/office/powerpoint/2010/main" val="2425613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E817C75-8451-3868-8352-C4F4589492FC}"/>
              </a:ext>
            </a:extLst>
          </p:cNvPr>
          <p:cNvSpPr/>
          <p:nvPr/>
        </p:nvSpPr>
        <p:spPr>
          <a:xfrm>
            <a:off x="3581400" y="90560"/>
            <a:ext cx="4444583" cy="8019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i="1" dirty="0">
                <a:solidFill>
                  <a:schemeClr val="bg1">
                    <a:lumMod val="85000"/>
                    <a:lumOff val="15000"/>
                  </a:schemeClr>
                </a:solidFill>
              </a:rPr>
              <a:t>KEY INSIGHTS</a:t>
            </a:r>
          </a:p>
        </p:txBody>
      </p:sp>
      <p:pic>
        <p:nvPicPr>
          <p:cNvPr id="6" name="Picture 6" descr="Insight - Free communications icons">
            <a:extLst>
              <a:ext uri="{FF2B5EF4-FFF2-40B4-BE49-F238E27FC236}">
                <a16:creationId xmlns:a16="http://schemas.microsoft.com/office/drawing/2014/main" id="{E3F40FF5-32F5-1C56-46F6-63AD6A31DA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03764" y="113045"/>
            <a:ext cx="1671403" cy="1933112"/>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27F85EC-230C-B17E-358D-DA4BAB6526F0}"/>
              </a:ext>
            </a:extLst>
          </p:cNvPr>
          <p:cNvSpPr txBox="1"/>
          <p:nvPr/>
        </p:nvSpPr>
        <p:spPr>
          <a:xfrm>
            <a:off x="1304144" y="1079601"/>
            <a:ext cx="8199620" cy="2646878"/>
          </a:xfrm>
          <a:prstGeom prst="rect">
            <a:avLst/>
          </a:prstGeom>
          <a:noFill/>
        </p:spPr>
        <p:txBody>
          <a:bodyPr wrap="square" rtlCol="0">
            <a:spAutoFit/>
          </a:bodyPr>
          <a:lstStyle/>
          <a:p>
            <a:r>
              <a:rPr lang="en-US" sz="2000" b="1" dirty="0">
                <a:solidFill>
                  <a:schemeClr val="tx2">
                    <a:lumMod val="50000"/>
                  </a:schemeClr>
                </a:solidFill>
              </a:rPr>
              <a:t>Goal Range and Time Trends</a:t>
            </a:r>
            <a:br>
              <a:rPr lang="en-US" sz="2000" b="1" dirty="0">
                <a:solidFill>
                  <a:schemeClr val="tx2">
                    <a:lumMod val="50000"/>
                  </a:schemeClr>
                </a:solidFill>
              </a:rPr>
            </a:br>
            <a:endParaRPr lang="en-US" sz="2000" b="1" dirty="0">
              <a:solidFill>
                <a:schemeClr val="tx2">
                  <a:lumMod val="50000"/>
                </a:schemeClr>
              </a:solidFill>
            </a:endParaRPr>
          </a:p>
          <a:p>
            <a:pPr marL="285750" indent="-285750">
              <a:buFont typeface="Wingdings" panose="05000000000000000000" pitchFamily="2" charset="2"/>
              <a:buChar char="q"/>
            </a:pPr>
            <a:r>
              <a:rPr lang="en-US" dirty="0"/>
              <a:t>Projects with lower goal amounts have higher success rates.</a:t>
            </a:r>
            <a:br>
              <a:rPr lang="en-US" dirty="0"/>
            </a:br>
            <a:endParaRPr lang="en-US" dirty="0"/>
          </a:p>
          <a:p>
            <a:pPr marL="285750" indent="-285750">
              <a:buFont typeface="Wingdings" panose="05000000000000000000" pitchFamily="2" charset="2"/>
              <a:buChar char="q"/>
            </a:pPr>
            <a:r>
              <a:rPr lang="en-US" dirty="0"/>
              <a:t>Very high goal projects show lower chances of success.</a:t>
            </a:r>
            <a:br>
              <a:rPr lang="en-US" dirty="0"/>
            </a:br>
            <a:endParaRPr lang="en-US" dirty="0"/>
          </a:p>
          <a:p>
            <a:pPr marL="285750" indent="-285750">
              <a:buFont typeface="Wingdings" panose="05000000000000000000" pitchFamily="2" charset="2"/>
              <a:buChar char="q"/>
            </a:pPr>
            <a:r>
              <a:rPr lang="en-US" dirty="0"/>
              <a:t>Project creation trends change over time across different years.</a:t>
            </a:r>
            <a:br>
              <a:rPr lang="en-US" dirty="0"/>
            </a:br>
            <a:endParaRPr lang="en-US" dirty="0"/>
          </a:p>
          <a:p>
            <a:pPr marL="285750" indent="-285750">
              <a:buFont typeface="Wingdings" panose="05000000000000000000" pitchFamily="2" charset="2"/>
              <a:buChar char="q"/>
            </a:pPr>
            <a:r>
              <a:rPr lang="en-US" dirty="0"/>
              <a:t>Choosing the right goal amount is a critical success factor.</a:t>
            </a:r>
            <a:endParaRPr lang="en-IN" dirty="0"/>
          </a:p>
        </p:txBody>
      </p:sp>
      <p:pic>
        <p:nvPicPr>
          <p:cNvPr id="4" name="Picture 3">
            <a:extLst>
              <a:ext uri="{FF2B5EF4-FFF2-40B4-BE49-F238E27FC236}">
                <a16:creationId xmlns:a16="http://schemas.microsoft.com/office/drawing/2014/main" id="{DD478A79-CFD5-0B53-8065-6CFCE96F02F5}"/>
              </a:ext>
            </a:extLst>
          </p:cNvPr>
          <p:cNvPicPr>
            <a:picLocks noChangeAspect="1"/>
          </p:cNvPicPr>
          <p:nvPr/>
        </p:nvPicPr>
        <p:blipFill>
          <a:blip r:embed="rId3"/>
          <a:stretch>
            <a:fillRect/>
          </a:stretch>
        </p:blipFill>
        <p:spPr>
          <a:xfrm>
            <a:off x="1800225" y="3726477"/>
            <a:ext cx="4295775" cy="2646878"/>
          </a:xfrm>
          <a:prstGeom prst="rect">
            <a:avLst/>
          </a:prstGeom>
        </p:spPr>
      </p:pic>
      <p:pic>
        <p:nvPicPr>
          <p:cNvPr id="7" name="Picture 6">
            <a:extLst>
              <a:ext uri="{FF2B5EF4-FFF2-40B4-BE49-F238E27FC236}">
                <a16:creationId xmlns:a16="http://schemas.microsoft.com/office/drawing/2014/main" id="{726EF0BE-E43C-7F85-A8EA-809375943FF4}"/>
              </a:ext>
            </a:extLst>
          </p:cNvPr>
          <p:cNvPicPr>
            <a:picLocks noChangeAspect="1"/>
          </p:cNvPicPr>
          <p:nvPr/>
        </p:nvPicPr>
        <p:blipFill>
          <a:blip r:embed="rId4"/>
          <a:stretch>
            <a:fillRect/>
          </a:stretch>
        </p:blipFill>
        <p:spPr>
          <a:xfrm>
            <a:off x="6262765" y="3726477"/>
            <a:ext cx="4076700" cy="2705100"/>
          </a:xfrm>
          <a:prstGeom prst="rect">
            <a:avLst/>
          </a:prstGeom>
        </p:spPr>
      </p:pic>
    </p:spTree>
    <p:extLst>
      <p:ext uri="{BB962C8B-B14F-4D97-AF65-F5344CB8AC3E}">
        <p14:creationId xmlns:p14="http://schemas.microsoft.com/office/powerpoint/2010/main" val="688868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D366CF-4790-B520-4B62-AE5C921E7B73}"/>
              </a:ext>
            </a:extLst>
          </p:cNvPr>
          <p:cNvPicPr>
            <a:picLocks noChangeAspect="1"/>
          </p:cNvPicPr>
          <p:nvPr/>
        </p:nvPicPr>
        <p:blipFill>
          <a:blip r:embed="rId2"/>
          <a:stretch>
            <a:fillRect/>
          </a:stretch>
        </p:blipFill>
        <p:spPr>
          <a:xfrm>
            <a:off x="0" y="-3957"/>
            <a:ext cx="12046226" cy="7125029"/>
          </a:xfrm>
          <a:prstGeom prst="rect">
            <a:avLst/>
          </a:prstGeom>
        </p:spPr>
      </p:pic>
    </p:spTree>
    <p:extLst>
      <p:ext uri="{BB962C8B-B14F-4D97-AF65-F5344CB8AC3E}">
        <p14:creationId xmlns:p14="http://schemas.microsoft.com/office/powerpoint/2010/main" val="361839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E0577028-ACF7-DBC0-7191-92E1FBBBDB98}"/>
              </a:ext>
            </a:extLst>
          </p:cNvPr>
          <p:cNvSpPr/>
          <p:nvPr/>
        </p:nvSpPr>
        <p:spPr>
          <a:xfrm>
            <a:off x="3125450" y="90560"/>
            <a:ext cx="4900534" cy="8019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i="1" dirty="0">
                <a:solidFill>
                  <a:schemeClr val="bg1">
                    <a:lumMod val="85000"/>
                    <a:lumOff val="15000"/>
                  </a:schemeClr>
                </a:solidFill>
              </a:rPr>
              <a:t>RECOMMEDATIONS</a:t>
            </a:r>
          </a:p>
        </p:txBody>
      </p:sp>
      <p:sp>
        <p:nvSpPr>
          <p:cNvPr id="8" name="TextBox 7">
            <a:extLst>
              <a:ext uri="{FF2B5EF4-FFF2-40B4-BE49-F238E27FC236}">
                <a16:creationId xmlns:a16="http://schemas.microsoft.com/office/drawing/2014/main" id="{D93A3B41-1627-A57A-2A6D-F4825050CA4A}"/>
              </a:ext>
            </a:extLst>
          </p:cNvPr>
          <p:cNvSpPr txBox="1"/>
          <p:nvPr/>
        </p:nvSpPr>
        <p:spPr>
          <a:xfrm>
            <a:off x="1377221" y="1371841"/>
            <a:ext cx="8718654" cy="3970318"/>
          </a:xfrm>
          <a:prstGeom prst="rect">
            <a:avLst/>
          </a:prstGeom>
          <a:noFill/>
        </p:spPr>
        <p:txBody>
          <a:bodyPr wrap="square">
            <a:spAutoFit/>
          </a:bodyPr>
          <a:lstStyle/>
          <a:p>
            <a:pPr marL="285750" indent="-285750">
              <a:buFont typeface="Wingdings" panose="05000000000000000000" pitchFamily="2" charset="2"/>
              <a:buChar char="q"/>
            </a:pPr>
            <a:r>
              <a:rPr lang="en-IN" dirty="0"/>
              <a:t>Creators should set realistic and achievable funding goals.</a:t>
            </a:r>
            <a:br>
              <a:rPr lang="en-IN" dirty="0"/>
            </a:br>
            <a:br>
              <a:rPr lang="en-IN" dirty="0"/>
            </a:br>
            <a:endParaRPr lang="en-IN" dirty="0"/>
          </a:p>
          <a:p>
            <a:pPr marL="285750" indent="-285750">
              <a:buFont typeface="Wingdings" panose="05000000000000000000" pitchFamily="2" charset="2"/>
              <a:buChar char="q"/>
            </a:pPr>
            <a:r>
              <a:rPr lang="en-IN" dirty="0"/>
              <a:t>Projects with lower goal amounts have a higher success rate.</a:t>
            </a:r>
            <a:br>
              <a:rPr lang="en-IN" dirty="0"/>
            </a:br>
            <a:br>
              <a:rPr lang="en-IN" dirty="0"/>
            </a:br>
            <a:endParaRPr lang="en-IN" dirty="0"/>
          </a:p>
          <a:p>
            <a:pPr marL="285750" indent="-285750">
              <a:buFont typeface="Wingdings" panose="05000000000000000000" pitchFamily="2" charset="2"/>
              <a:buChar char="q"/>
            </a:pPr>
            <a:r>
              <a:rPr lang="en-IN" dirty="0"/>
              <a:t>Strong project description, visuals, and updates help attract more backers.</a:t>
            </a:r>
            <a:br>
              <a:rPr lang="en-IN" dirty="0"/>
            </a:br>
            <a:br>
              <a:rPr lang="en-IN" dirty="0"/>
            </a:br>
            <a:endParaRPr lang="en-IN" dirty="0"/>
          </a:p>
          <a:p>
            <a:pPr marL="285750" indent="-285750">
              <a:buFont typeface="Wingdings" panose="05000000000000000000" pitchFamily="2" charset="2"/>
              <a:buChar char="q"/>
            </a:pPr>
            <a:r>
              <a:rPr lang="en-IN" dirty="0"/>
              <a:t>Popular categories help, but clear planning matters more than category.</a:t>
            </a:r>
            <a:br>
              <a:rPr lang="en-IN" dirty="0"/>
            </a:br>
            <a:br>
              <a:rPr lang="en-IN" dirty="0"/>
            </a:br>
            <a:endParaRPr lang="en-IN" dirty="0"/>
          </a:p>
          <a:p>
            <a:pPr marL="285750" indent="-285750">
              <a:buFont typeface="Wingdings" panose="05000000000000000000" pitchFamily="2" charset="2"/>
              <a:buChar char="q"/>
            </a:pPr>
            <a:r>
              <a:rPr lang="en-IN" dirty="0"/>
              <a:t>Launch timing and consistent engagement with backers improve success chances.</a:t>
            </a:r>
          </a:p>
        </p:txBody>
      </p:sp>
      <p:pic>
        <p:nvPicPr>
          <p:cNvPr id="4098" name="Picture 2">
            <a:extLst>
              <a:ext uri="{FF2B5EF4-FFF2-40B4-BE49-F238E27FC236}">
                <a16:creationId xmlns:a16="http://schemas.microsoft.com/office/drawing/2014/main" id="{1C0AEE62-F5BA-58DA-E1ED-F016AF09F7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20330" y="0"/>
            <a:ext cx="2151089" cy="20086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060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83B307C4-4F97-BB7D-2A05-F63C8213AFFD}"/>
              </a:ext>
            </a:extLst>
          </p:cNvPr>
          <p:cNvSpPr/>
          <p:nvPr/>
        </p:nvSpPr>
        <p:spPr>
          <a:xfrm>
            <a:off x="3899940" y="150520"/>
            <a:ext cx="3580151" cy="8019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i="1" dirty="0">
                <a:solidFill>
                  <a:schemeClr val="bg1">
                    <a:lumMod val="85000"/>
                    <a:lumOff val="15000"/>
                  </a:schemeClr>
                </a:solidFill>
              </a:rPr>
              <a:t>CONCLUSION</a:t>
            </a:r>
          </a:p>
        </p:txBody>
      </p:sp>
      <p:sp>
        <p:nvSpPr>
          <p:cNvPr id="6" name="TextBox 5">
            <a:extLst>
              <a:ext uri="{FF2B5EF4-FFF2-40B4-BE49-F238E27FC236}">
                <a16:creationId xmlns:a16="http://schemas.microsoft.com/office/drawing/2014/main" id="{8BB46C40-74BB-CE52-8BC3-7C457AD7F9CA}"/>
              </a:ext>
            </a:extLst>
          </p:cNvPr>
          <p:cNvSpPr txBox="1"/>
          <p:nvPr/>
        </p:nvSpPr>
        <p:spPr>
          <a:xfrm>
            <a:off x="1512133" y="1248331"/>
            <a:ext cx="6097248" cy="4401205"/>
          </a:xfrm>
          <a:prstGeom prst="rect">
            <a:avLst/>
          </a:prstGeom>
          <a:noFill/>
        </p:spPr>
        <p:txBody>
          <a:bodyPr wrap="square">
            <a:spAutoFit/>
          </a:bodyPr>
          <a:lstStyle/>
          <a:p>
            <a:pPr marL="342900" indent="-342900">
              <a:buFont typeface="Wingdings" panose="05000000000000000000" pitchFamily="2" charset="2"/>
              <a:buChar char="q"/>
            </a:pPr>
            <a:r>
              <a:rPr lang="en-IN" sz="2000" dirty="0"/>
              <a:t>Crowdfunding platforms have a large number of projects, but not all succeed.</a:t>
            </a:r>
            <a:br>
              <a:rPr lang="en-IN" sz="2000" dirty="0"/>
            </a:br>
            <a:endParaRPr lang="en-IN" sz="2000" dirty="0"/>
          </a:p>
          <a:p>
            <a:pPr marL="342900" indent="-342900">
              <a:buFont typeface="Wingdings" panose="05000000000000000000" pitchFamily="2" charset="2"/>
              <a:buChar char="q"/>
            </a:pPr>
            <a:r>
              <a:rPr lang="en-IN" sz="2000" dirty="0"/>
              <a:t>Success depends on goal amount, planning, and creator effort.</a:t>
            </a:r>
            <a:br>
              <a:rPr lang="en-IN" sz="2000" dirty="0"/>
            </a:br>
            <a:endParaRPr lang="en-IN" sz="2000" dirty="0"/>
          </a:p>
          <a:p>
            <a:pPr marL="342900" indent="-342900">
              <a:buFont typeface="Wingdings" panose="05000000000000000000" pitchFamily="2" charset="2"/>
              <a:buChar char="q"/>
            </a:pPr>
            <a:r>
              <a:rPr lang="en-IN" sz="2000" dirty="0"/>
              <a:t>Data analysis using Excel, Power BI, and Tableau helped identify key trends.</a:t>
            </a:r>
            <a:br>
              <a:rPr lang="en-IN" sz="2000" dirty="0"/>
            </a:br>
            <a:endParaRPr lang="en-IN" sz="2000" dirty="0"/>
          </a:p>
          <a:p>
            <a:pPr marL="342900" indent="-342900">
              <a:buFont typeface="Wingdings" panose="05000000000000000000" pitchFamily="2" charset="2"/>
              <a:buChar char="q"/>
            </a:pPr>
            <a:r>
              <a:rPr lang="en-IN" sz="2000" dirty="0"/>
              <a:t>Dashboards make it easy to track performance and take better decisions.</a:t>
            </a:r>
            <a:br>
              <a:rPr lang="en-IN" sz="2000" dirty="0"/>
            </a:br>
            <a:endParaRPr lang="en-IN" sz="2000" dirty="0"/>
          </a:p>
          <a:p>
            <a:pPr marL="342900" indent="-342900">
              <a:buFont typeface="Wingdings" panose="05000000000000000000" pitchFamily="2" charset="2"/>
              <a:buChar char="q"/>
            </a:pPr>
            <a:r>
              <a:rPr lang="en-IN" sz="2000" dirty="0"/>
              <a:t>This analysis can help future creators improve their chances of success.</a:t>
            </a:r>
          </a:p>
        </p:txBody>
      </p:sp>
      <p:pic>
        <p:nvPicPr>
          <p:cNvPr id="5122" name="Picture 2">
            <a:extLst>
              <a:ext uri="{FF2B5EF4-FFF2-40B4-BE49-F238E27FC236}">
                <a16:creationId xmlns:a16="http://schemas.microsoft.com/office/drawing/2014/main" id="{05E7E2E2-15AA-3045-6FB8-2D381DB14F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30141" y="150520"/>
            <a:ext cx="1684442" cy="17690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37356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F86F58-BCD9-9BB4-92A0-993C99AF408C}"/>
              </a:ext>
            </a:extLst>
          </p:cNvPr>
          <p:cNvSpPr txBox="1"/>
          <p:nvPr/>
        </p:nvSpPr>
        <p:spPr>
          <a:xfrm>
            <a:off x="2818150" y="2490519"/>
            <a:ext cx="6768059" cy="1323439"/>
          </a:xfrm>
          <a:prstGeom prst="rect">
            <a:avLst/>
          </a:prstGeom>
          <a:noFill/>
        </p:spPr>
        <p:txBody>
          <a:bodyPr wrap="square" rtlCol="0">
            <a:spAutoFit/>
          </a:bodyPr>
          <a:lstStyle/>
          <a:p>
            <a:r>
              <a:rPr lang="en-US" sz="8000" b="1" i="1" dirty="0">
                <a:solidFill>
                  <a:schemeClr val="tx2">
                    <a:lumMod val="50000"/>
                  </a:schemeClr>
                </a:solidFill>
              </a:rPr>
              <a:t>THANK YOU</a:t>
            </a:r>
            <a:endParaRPr lang="en-IN" sz="8000" b="1" i="1" dirty="0">
              <a:solidFill>
                <a:schemeClr val="tx2">
                  <a:lumMod val="50000"/>
                </a:schemeClr>
              </a:solidFill>
            </a:endParaRPr>
          </a:p>
        </p:txBody>
      </p:sp>
    </p:spTree>
    <p:extLst>
      <p:ext uri="{BB962C8B-B14F-4D97-AF65-F5344CB8AC3E}">
        <p14:creationId xmlns:p14="http://schemas.microsoft.com/office/powerpoint/2010/main" val="21388340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Gallery</Template>
  <TotalTime>334</TotalTime>
  <Words>649</Words>
  <Application>Microsoft Office PowerPoint</Application>
  <PresentationFormat>Widescreen</PresentationFormat>
  <Paragraphs>52</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MS Shell Dlg 2</vt:lpstr>
      <vt:lpstr>Wingdings</vt:lpstr>
      <vt:lpstr>Wingdings 3</vt:lpstr>
      <vt:lpstr>Madison</vt:lpstr>
      <vt:lpstr>CROWDFUNDING KICKSTARTER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CROWDFUNDING KICKSTARTER</dc:title>
  <dc:creator>Admin</dc:creator>
  <cp:lastModifiedBy>hp</cp:lastModifiedBy>
  <cp:revision>11</cp:revision>
  <dcterms:created xsi:type="dcterms:W3CDTF">2026-02-02T10:40:51Z</dcterms:created>
  <dcterms:modified xsi:type="dcterms:W3CDTF">2026-02-24T08:28:40Z</dcterms:modified>
</cp:coreProperties>
</file>