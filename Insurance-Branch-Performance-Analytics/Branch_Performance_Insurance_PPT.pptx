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4" r:id="rId7"/>
    <p:sldId id="263" r:id="rId8"/>
    <p:sldId id="262" r:id="rId9"/>
    <p:sldId id="261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5756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8611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1530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6175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61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A9AD"/>
                </a:solidFill>
              </a:rPr>
              <a:t>INTERNSHIP PROJECT  |  INSURANCE ANALYSIS  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Branch Performance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&amp; Sales Dashboard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3EA"/>
                </a:solidFill>
              </a:rPr>
              <a:t>A unified analytics solution to monitor branch KPIs,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DE3EA"/>
                </a:solidFill>
              </a:rPr>
              <a:t>track sales targets, and drive data-informed decisions.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977640"/>
            <a:ext cx="1737360" cy="38404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9776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MySQL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0" y="3977640"/>
            <a:ext cx="1737360" cy="38404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0" y="39776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Power BI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3977640"/>
            <a:ext cx="1737360" cy="38404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39776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Tableau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3977640"/>
            <a:ext cx="1737360" cy="38404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39776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Excel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032" y="4754880"/>
            <a:ext cx="8887968" cy="38862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Insurance Analysis Project  ·  Branch Performance &amp; Sales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397764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3977640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1556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703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The organization lacks a unified view to track and compare branch-level performance in real-time across New, Cross-Sell, and Renewal business lines.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Key decision-makers face challenges due to fragmented data spread across Excel sheets and CRM systems, with no clear alignment between individual targets and actual achievements.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122602"/>
            <a:ext cx="425196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115568"/>
            <a:ext cx="4251960" cy="3657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11556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CHALLENGES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1572768"/>
            <a:ext cx="39776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No real-time tracking of branch-level KPIs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Inability to monitor meetings, opportunities &amp; win ratios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Limited visibility into invoice count &amp; conversion ratios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Difficult to identify top performers vs lagging branches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Delayed reporting &amp; misaligned goals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Objective &amp; Use Case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8503920" cy="1005840"/>
          </a:xfrm>
          <a:prstGeom prst="rect">
            <a:avLst/>
          </a:prstGeom>
          <a:solidFill>
            <a:srgbClr val="1A2E45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164592" cy="10058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430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A9AD"/>
                </a:solidFill>
              </a:rPr>
              <a:t>Objective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3EA"/>
                </a:solidFill>
              </a:rPr>
              <a:t>Build an interactive dashboard using Power BI, Tableau, and Excel to centralize data, automate performance tracking, and provide real-time decision support across branches.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274320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331720"/>
            <a:ext cx="274320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331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Branch Monitoring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15468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Track revenue targets vs. achievement per branch and account executive across business streams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18688" y="2331720"/>
            <a:ext cx="274320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2331720"/>
            <a:ext cx="2743200" cy="34747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3218688" y="2331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55848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Sales Funnel Tracking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55848" y="315468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Monitor opportunity pipelines, stages, and win ratios at individual and branch level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17336" y="2331720"/>
            <a:ext cx="274320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17336" y="2331720"/>
            <a:ext cx="274320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1" name="Text 19"/>
          <p:cNvSpPr/>
          <p:nvPr/>
        </p:nvSpPr>
        <p:spPr>
          <a:xfrm>
            <a:off x="6117336" y="2331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5449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Strategic Decisions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54496" y="315468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Empower corporate teams with drill-down insights to identify high-performers and coaching areas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 Sources &amp; Tools Used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4114800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155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SOURCES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1664208"/>
            <a:ext cx="347472" cy="2926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66420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16916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Target Sheets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" y="2194560"/>
            <a:ext cx="347472" cy="2926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219456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22219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Brokerage &amp; Fees Records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" y="2724912"/>
            <a:ext cx="347472" cy="2926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272491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" y="275234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Invoice Reports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" y="3255264"/>
            <a:ext cx="347472" cy="2926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325526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" y="328269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Meetings Data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" y="3785616"/>
            <a:ext cx="347472" cy="2926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378561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2688" y="38130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CRM Opportunities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1115568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115568"/>
            <a:ext cx="4114800" cy="3657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11155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TOOLS &amp; TECHNOLOGIES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64608" y="1664208"/>
            <a:ext cx="1005840" cy="38404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27" name="Text 25"/>
          <p:cNvSpPr/>
          <p:nvPr/>
        </p:nvSpPr>
        <p:spPr>
          <a:xfrm>
            <a:off x="4864608" y="16642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A9AD"/>
                </a:solidFill>
              </a:rPr>
              <a:t>MySQL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61888" y="1691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Database querying &amp; data extraction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64608" y="2322576"/>
            <a:ext cx="1005840" cy="38404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0" name="Text 28"/>
          <p:cNvSpPr/>
          <p:nvPr/>
        </p:nvSpPr>
        <p:spPr>
          <a:xfrm>
            <a:off x="4864608" y="232257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A9AD"/>
                </a:solidFill>
              </a:rPr>
              <a:t>Power BI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61888" y="23500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Interactive dashboards &amp; KPI tracking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64608" y="2980944"/>
            <a:ext cx="1005840" cy="38404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3" name="Text 31"/>
          <p:cNvSpPr/>
          <p:nvPr/>
        </p:nvSpPr>
        <p:spPr>
          <a:xfrm>
            <a:off x="4864608" y="298094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A9AD"/>
                </a:solidFill>
              </a:rPr>
              <a:t>Tableau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61888" y="3008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Visual analytics &amp; trend analysis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64608" y="3639312"/>
            <a:ext cx="1005840" cy="38404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6" name="Text 34"/>
          <p:cNvSpPr/>
          <p:nvPr/>
        </p:nvSpPr>
        <p:spPr>
          <a:xfrm>
            <a:off x="4864608" y="36393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A9AD"/>
                </a:solidFill>
              </a:rPr>
              <a:t>MS Excel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61888" y="36667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Data cleaning, pivot analysis &amp; modeling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Dashboard Highlights — Excel</a:t>
            </a:r>
            <a:endParaRPr lang="en-US" sz="2800" dirty="0"/>
          </a:p>
        </p:txBody>
      </p:sp>
      <p:pic>
        <p:nvPicPr>
          <p:cNvPr id="20" name="Picture 1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C681B60-36F2-A30A-6738-9918BDBD5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44" y="1083916"/>
            <a:ext cx="8771207" cy="38488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Dashboard Highlights — Power BI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66560" y="166420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3EA"/>
                </a:solidFill>
              </a:rPr>
              <a:t>Payment Success %</a:t>
            </a:r>
            <a:endParaRPr lang="en-US" sz="1100" dirty="0"/>
          </a:p>
        </p:txBody>
      </p:sp>
      <p:pic>
        <p:nvPicPr>
          <p:cNvPr id="20" name="Picture 19" descr="A screenshot of a computer dashboard&#10;&#10;AI-generated content may be incorrect.">
            <a:extLst>
              <a:ext uri="{FF2B5EF4-FFF2-40B4-BE49-F238E27FC236}">
                <a16:creationId xmlns:a16="http://schemas.microsoft.com/office/drawing/2014/main" id="{775E2AA4-683C-191C-7DB1-8AEC15683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119086"/>
            <a:ext cx="8897815" cy="38749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2482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Dashboard Highlights — Tableau</a:t>
            </a:r>
            <a:endParaRPr lang="en-US" sz="2800" dirty="0"/>
          </a:p>
        </p:txBody>
      </p:sp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853DDE5-5458-E3EB-46CD-90E021728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75" y="1083212"/>
            <a:ext cx="8932985" cy="39389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0585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SQL Queries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17720" y="166420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3EA"/>
                </a:solidFill>
              </a:rPr>
              <a:t>Total Claim Amount</a:t>
            </a:r>
            <a:endParaRPr lang="en-US" sz="1100" dirty="0"/>
          </a:p>
        </p:txBody>
      </p:sp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F1DB1F-2A6D-12B7-8CF6-34B20385A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79" y="1042416"/>
            <a:ext cx="8827476" cy="39730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77740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Findings &amp;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3291840"/>
          </a:xfrm>
          <a:prstGeom prst="rect">
            <a:avLst/>
          </a:prstGeom>
          <a:solidFill>
            <a:srgbClr val="1A2E45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206240" cy="34747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FINDINGS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" y="1481328"/>
            <a:ext cx="137160" cy="137160"/>
          </a:xfrm>
          <a:prstGeom prst="ellipse">
            <a:avLst/>
          </a:prstGeom>
          <a:solidFill>
            <a:srgbClr val="14A9AD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38988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DE3EA"/>
                </a:solidFill>
              </a:rPr>
              <a:t>Active, Lapsed &amp; Terminated policies are nearly equally split (~33% each) — retention focus needed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" y="2167128"/>
            <a:ext cx="137160" cy="137160"/>
          </a:xfrm>
          <a:prstGeom prst="ellipse">
            <a:avLst/>
          </a:prstGeom>
          <a:solidFill>
            <a:srgbClr val="14A9AD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07568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DE3EA"/>
                </a:solidFill>
              </a:rPr>
              <a:t>Health insurance leads policy count (1,316); all types are closely matched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" y="2852928"/>
            <a:ext cx="137160" cy="137160"/>
          </a:xfrm>
          <a:prstGeom prst="ellipse">
            <a:avLst/>
          </a:prstGeom>
          <a:solidFill>
            <a:srgbClr val="14A9AD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76148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DE3EA"/>
                </a:solidFill>
              </a:rPr>
              <a:t>61.8% payment success rate — 38.2% failed payments signal collection process gaps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9768" y="3538728"/>
            <a:ext cx="137160" cy="137160"/>
          </a:xfrm>
          <a:prstGeom prst="ellipse">
            <a:avLst/>
          </a:prstGeom>
          <a:solidFill>
            <a:srgbClr val="14A9AD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44728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DE3EA"/>
                </a:solidFill>
              </a:rPr>
              <a:t>Claim amount (₹251M) vs. premium (₹12.26M) reveals high claim exposure requiring risk review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4206240" cy="3291840"/>
          </a:xfrm>
          <a:prstGeom prst="rect">
            <a:avLst/>
          </a:prstGeom>
          <a:solidFill>
            <a:srgbClr val="1A2E45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914400"/>
            <a:ext cx="4206240" cy="34747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9144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RECOMMENDATIONS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18888" y="1426464"/>
            <a:ext cx="137160" cy="13716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19" name="Text 17"/>
          <p:cNvSpPr/>
          <p:nvPr/>
        </p:nvSpPr>
        <p:spPr>
          <a:xfrm>
            <a:off x="5047488" y="138988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DE3EA"/>
                </a:solidFill>
              </a:rPr>
              <a:t>Implement automated alerts for lapsing policies to improve retention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18888" y="2112264"/>
            <a:ext cx="137160" cy="13716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21" name="Text 19"/>
          <p:cNvSpPr/>
          <p:nvPr/>
        </p:nvSpPr>
        <p:spPr>
          <a:xfrm>
            <a:off x="5047488" y="207568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DE3EA"/>
                </a:solidFill>
              </a:rPr>
              <a:t>Strengthen payment collection workflows to reduce 38% failure rate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18888" y="2798064"/>
            <a:ext cx="137160" cy="13716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23" name="Text 21"/>
          <p:cNvSpPr/>
          <p:nvPr/>
        </p:nvSpPr>
        <p:spPr>
          <a:xfrm>
            <a:off x="5047488" y="276148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DE3EA"/>
                </a:solidFill>
              </a:rPr>
              <a:t>Use Power BI drill-down to identify underperforming branches weekly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18888" y="3483864"/>
            <a:ext cx="137160" cy="13716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25" name="Text 23"/>
          <p:cNvSpPr/>
          <p:nvPr/>
        </p:nvSpPr>
        <p:spPr>
          <a:xfrm>
            <a:off x="5047488" y="344728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DE3EA"/>
                </a:solidFill>
              </a:rPr>
              <a:t>Set individual KPI targets aligned to branch-level goals via CRM integration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4389120"/>
            <a:ext cx="9144000" cy="64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453128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DDE3EA"/>
                </a:solidFill>
              </a:rPr>
              <a:t>This dashboard bridges the gap between fragmented data and strategic clarity — enabling accountability, transparency, and growth across all branches.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1">
            <a:extLst>
              <a:ext uri="{FF2B5EF4-FFF2-40B4-BE49-F238E27FC236}">
                <a16:creationId xmlns:a16="http://schemas.microsoft.com/office/drawing/2014/main" id="{38BBAB28-73C2-1B11-8F81-090859D91369}"/>
              </a:ext>
            </a:extLst>
          </p:cNvPr>
          <p:cNvSpPr/>
          <p:nvPr/>
        </p:nvSpPr>
        <p:spPr>
          <a:xfrm>
            <a:off x="365760" y="1633171"/>
            <a:ext cx="8412480" cy="187715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/>
              <a:t>Thank You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966439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1173</TotalTime>
  <Words>441</Words>
  <Application>Microsoft Office PowerPoint</Application>
  <PresentationFormat>On-screen Show (16:9)</PresentationFormat>
  <Paragraphs>87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Radhika</cp:lastModifiedBy>
  <cp:revision>2</cp:revision>
  <dcterms:created xsi:type="dcterms:W3CDTF">2026-04-10T09:06:24Z</dcterms:created>
  <dcterms:modified xsi:type="dcterms:W3CDTF">2026-04-11T04:41:49Z</dcterms:modified>
</cp:coreProperties>
</file>